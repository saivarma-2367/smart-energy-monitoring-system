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753600" cy="7315200"/>
  <p:notesSz cx="6858000" cy="9144000"/>
  <p:embeddedFontLst>
    <p:embeddedFont>
      <p:font typeface="Calibri (MS)" panose="020F05020202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55744" y="797568"/>
            <a:ext cx="9152256" cy="1554432"/>
            <a:chOff x="0" y="0"/>
            <a:chExt cx="12203008" cy="20725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3008" cy="2072576"/>
            </a:xfrm>
            <a:custGeom>
              <a:avLst/>
              <a:gdLst/>
              <a:ahLst/>
              <a:cxnLst/>
              <a:rect l="l" t="t" r="r" b="b"/>
              <a:pathLst>
                <a:path w="12203008" h="2072576">
                  <a:moveTo>
                    <a:pt x="0" y="0"/>
                  </a:moveTo>
                  <a:lnTo>
                    <a:pt x="12203008" y="0"/>
                  </a:lnTo>
                  <a:lnTo>
                    <a:pt x="12203008" y="2072576"/>
                  </a:lnTo>
                  <a:lnTo>
                    <a:pt x="0" y="20725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2203008" cy="20821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0"/>
                </a:lnSpc>
              </a:pPr>
              <a:r>
                <a:rPr lang="en-US" sz="2135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rPr>
                <a:t>Capstone Project – I:  Review – 2 on</a:t>
              </a:r>
              <a:endPara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  <a:p>
              <a:pPr algn="ctr">
                <a:lnSpc>
                  <a:spcPts val="4095"/>
                </a:lnSpc>
              </a:pPr>
              <a:r>
                <a:rPr lang="en-US" sz="341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Energy Effic</a:t>
              </a:r>
              <a:r>
                <a:rPr lang="en-US" sz="341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iency Optimization using IoT-Driven Power Consumption Analytics</a:t>
              </a:r>
              <a:endParaRPr lang="en-US" sz="341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63472" y="4845027"/>
            <a:ext cx="4196256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2135" b="1">
                <a:solidFill>
                  <a:srgbClr val="0070C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Under the Guidance of</a:t>
            </a:r>
            <a:endParaRPr lang="en-US" sz="2135" b="1">
              <a:solidFill>
                <a:srgbClr val="0070C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ctr">
              <a:lnSpc>
                <a:spcPts val="2560"/>
              </a:lnSpc>
            </a:pPr>
            <a:r>
              <a:rPr lang="en-US" sz="2135" b="1">
                <a:solidFill>
                  <a:srgbClr val="0D0D0D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M N Vamsi Thalatam</a:t>
            </a:r>
            <a:endParaRPr lang="en-US" sz="2135" b="1">
              <a:solidFill>
                <a:srgbClr val="0D0D0D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ctr">
              <a:lnSpc>
                <a:spcPts val="2560"/>
              </a:lnSpc>
            </a:pPr>
            <a:r>
              <a:rPr lang="en-US" sz="2135" b="1">
                <a:solidFill>
                  <a:srgbClr val="0D0D0D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As</a:t>
            </a:r>
            <a:r>
              <a:rPr lang="en-US" sz="2135" b="1">
                <a:solidFill>
                  <a:srgbClr val="0D0D0D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sociate Professor</a:t>
            </a:r>
            <a:endParaRPr lang="en-US" sz="2135" b="1">
              <a:solidFill>
                <a:srgbClr val="0D0D0D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9856" y="2619675"/>
            <a:ext cx="8753760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2135" b="1">
                <a:solidFill>
                  <a:srgbClr val="C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Presented by the Batch No. : XXX</a:t>
            </a:r>
            <a:endParaRPr lang="en-US" sz="2135" b="1">
              <a:solidFill>
                <a:srgbClr val="C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ctr">
              <a:lnSpc>
                <a:spcPts val="2305"/>
              </a:lnSpc>
            </a:pPr>
          </a:p>
          <a:p>
            <a:pPr algn="l">
              <a:lnSpc>
                <a:spcPts val="2305"/>
              </a:lnSpc>
            </a:pPr>
            <a:r>
              <a:rPr lang="en-US" sz="192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                                             </a:t>
            </a: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S.Sai Varma (VU22CSEN0102367)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                                              S. Manjith (VU22CSEN0101270)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                                              Himanshu Singh (VU22CSEN0101246)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                                              P.Lokesh (VU22CSEN0101012)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5616" y="6152091"/>
            <a:ext cx="8652384" cy="99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2135" b="1">
                <a:solidFill>
                  <a:srgbClr val="000099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Department of Computer Science and Engineering</a:t>
            </a:r>
            <a:endParaRPr lang="en-US" sz="2135" b="1">
              <a:solidFill>
                <a:srgbClr val="000099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algn="ctr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GITAM School of CSE, GITAM (Deemed to be University),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ctr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Visakhapatnam.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67648" y="280704"/>
            <a:ext cx="5630208" cy="945024"/>
            <a:chOff x="0" y="0"/>
            <a:chExt cx="7506944" cy="1260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06944" cy="1260032"/>
            </a:xfrm>
            <a:custGeom>
              <a:avLst/>
              <a:gdLst/>
              <a:ahLst/>
              <a:cxnLst/>
              <a:rect l="l" t="t" r="r" b="b"/>
              <a:pathLst>
                <a:path w="7506944" h="1260032">
                  <a:moveTo>
                    <a:pt x="0" y="0"/>
                  </a:moveTo>
                  <a:lnTo>
                    <a:pt x="7506944" y="0"/>
                  </a:lnTo>
                  <a:lnTo>
                    <a:pt x="7506944" y="1260032"/>
                  </a:lnTo>
                  <a:lnTo>
                    <a:pt x="0" y="1260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7506944" cy="12790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3585"/>
                </a:lnSpc>
              </a:pPr>
              <a:r>
                <a:rPr lang="en-US" sz="2985" b="1">
                  <a:solidFill>
                    <a:srgbClr val="0070C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CONTENTS</a:t>
              </a:r>
              <a:endParaRPr lang="en-US" sz="2985" b="1">
                <a:solidFill>
                  <a:srgbClr val="0070C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8480" y="1167750"/>
            <a:ext cx="8276640" cy="476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320" lvl="1" indent="-137160" algn="just">
              <a:lnSpc>
                <a:spcPts val="3455"/>
              </a:lnSpc>
              <a:buAutoNum type="arabicPeriod"/>
            </a:pPr>
            <a:r>
              <a:rPr lang="en-US" sz="213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Recap of Capstone Project Introduction Review-1</a:t>
            </a:r>
            <a:endParaRPr lang="en-US" sz="213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marL="762000" lvl="2" indent="-254000" algn="just">
              <a:lnSpc>
                <a:spcPts val="3455"/>
              </a:lnSpc>
              <a:buAutoNum type="alphaL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Problem Statement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762000" lvl="2" indent="-254000" algn="just">
              <a:lnSpc>
                <a:spcPts val="3455"/>
              </a:lnSpc>
              <a:buAutoNum type="alphaL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Objectives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762000" lvl="2" indent="-254000" algn="just">
              <a:lnSpc>
                <a:spcPts val="3455"/>
              </a:lnSpc>
              <a:buAutoNum type="alphaL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Feedback from Guide/Reviewers and actions taken after Review–1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just">
              <a:lnSpc>
                <a:spcPts val="3455"/>
              </a:lnSpc>
              <a:buAutoNum type="arabicPeriod"/>
            </a:pPr>
            <a:r>
              <a:rPr lang="en-US" sz="2135">
                <a:solidFill>
                  <a:srgbClr val="92D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Requirement Analysis</a:t>
            </a:r>
            <a:endParaRPr lang="en-US" sz="2135">
              <a:solidFill>
                <a:srgbClr val="92D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just">
              <a:lnSpc>
                <a:spcPts val="3455"/>
              </a:lnSpc>
              <a:buAutoNum type="arabicPeriod"/>
            </a:pPr>
            <a:r>
              <a:rPr lang="en-US" sz="2135">
                <a:solidFill>
                  <a:srgbClr val="92D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Identification of tools/technology/algorithms</a:t>
            </a:r>
            <a:endParaRPr lang="en-US" sz="2135">
              <a:solidFill>
                <a:srgbClr val="92D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just">
              <a:lnSpc>
                <a:spcPts val="3455"/>
              </a:lnSpc>
              <a:buAutoNum type="arabicPeriod"/>
            </a:pPr>
            <a:r>
              <a:rPr lang="en-US" sz="2135">
                <a:solidFill>
                  <a:srgbClr val="92D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Design Strategy (project workflow/ system design/ DFD/UML design)</a:t>
            </a:r>
            <a:endParaRPr lang="en-US" sz="2135">
              <a:solidFill>
                <a:srgbClr val="92D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just">
              <a:lnSpc>
                <a:spcPts val="3455"/>
              </a:lnSpc>
              <a:buAutoNum type="arabicPeriod"/>
            </a:pPr>
            <a:r>
              <a:rPr lang="en-US" sz="2135">
                <a:solidFill>
                  <a:srgbClr val="92D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Conclusion</a:t>
            </a:r>
            <a:endParaRPr lang="en-US" sz="2135">
              <a:solidFill>
                <a:srgbClr val="92D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just">
              <a:lnSpc>
                <a:spcPts val="3455"/>
              </a:lnSpc>
              <a:buAutoNum type="arabicPeriod"/>
            </a:pPr>
            <a:r>
              <a:rPr lang="en-US" sz="2135">
                <a:solidFill>
                  <a:srgbClr val="92D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References</a:t>
            </a:r>
            <a:endParaRPr lang="en-US" sz="2135">
              <a:solidFill>
                <a:srgbClr val="92D05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382784" y="145536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Recap from review-1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33550"/>
            <a:ext cx="8595360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• Pre</a:t>
            </a: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sented the problem of inefficient energy consumption in households/industries.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• Showed literature survey on IoT + ML-based energy optimization.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• Demonstrated initial understanding of clustering &amp; forecasting concepts.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• Received feedback to refine research gaps and provide a clearer execution roadmap.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334016" y="98304"/>
            <a:ext cx="2102784" cy="863616"/>
            <a:chOff x="0" y="0"/>
            <a:chExt cx="2803712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3652" cy="1151509"/>
            </a:xfrm>
            <a:custGeom>
              <a:avLst/>
              <a:gdLst/>
              <a:ahLst/>
              <a:cxnLst/>
              <a:rect l="l" t="t" r="r" b="b"/>
              <a:pathLst>
                <a:path w="2803652" h="1151509">
                  <a:moveTo>
                    <a:pt x="0" y="0"/>
                  </a:moveTo>
                  <a:lnTo>
                    <a:pt x="2803652" y="0"/>
                  </a:lnTo>
                  <a:lnTo>
                    <a:pt x="2803652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8" r="-11" b="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Problem Statement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43075"/>
            <a:ext cx="8595360" cy="387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Traditional energy sy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stems lack real-time monitoring, behaviour analysis, and consumption forecasting.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560"/>
              </a:lnSpc>
            </a:p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This makes it difficult to: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Identify inefficient energy usage behaviour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Predict future power demand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Optimize appliance schedules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Reduce electricity cost and wastage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560"/>
              </a:lnSpc>
            </a:p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Need: A unified IoT + ML system for real-time monitoring and predictive analytics.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400"/>
              </a:lnSpc>
            </a:pPr>
          </a:p>
        </p:txBody>
      </p: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334016" y="98304"/>
            <a:ext cx="2102784" cy="863616"/>
            <a:chOff x="0" y="0"/>
            <a:chExt cx="2803712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3652" cy="1151509"/>
            </a:xfrm>
            <a:custGeom>
              <a:avLst/>
              <a:gdLst/>
              <a:ahLst/>
              <a:cxnLst/>
              <a:rect l="l" t="t" r="r" b="b"/>
              <a:pathLst>
                <a:path w="2803652" h="1151509">
                  <a:moveTo>
                    <a:pt x="0" y="0"/>
                  </a:moveTo>
                  <a:lnTo>
                    <a:pt x="2803652" y="0"/>
                  </a:lnTo>
                  <a:lnTo>
                    <a:pt x="2803652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8" r="-11" b="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Objectives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43075"/>
            <a:ext cx="8595360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Pha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se 1 – Machine Learning Model Development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AutoNum type="arabi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Build ML models to analyze historical consumption patterns (Clustering).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AutoNum type="arabi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Develop an LSTM-based forecasting model for next-hour energy prediction.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560"/>
              </a:lnSpc>
            </a:p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Phase 2 – IoT System Integration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AutoNum type="arabi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Integrate ESP32 + PZEM-004T sensors for real-time data acquisition.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60375" lvl="1" indent="-230505" algn="l">
              <a:lnSpc>
                <a:spcPts val="2560"/>
              </a:lnSpc>
              <a:buAutoNum type="arabicPeriod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Connect ML models to IoT pipeline for live predictions &amp; recommendations.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560"/>
              </a:lnSpc>
            </a:pPr>
          </a:p>
        </p:txBody>
      </p: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076352" y="289536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670464"/>
            <a:ext cx="8778240" cy="841728"/>
            <a:chOff x="0" y="0"/>
            <a:chExt cx="11704320" cy="1122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122304"/>
            </a:xfrm>
            <a:custGeom>
              <a:avLst/>
              <a:gdLst/>
              <a:ahLst/>
              <a:cxnLst/>
              <a:rect l="l" t="t" r="r" b="b"/>
              <a:pathLst>
                <a:path w="11704320" h="1122304">
                  <a:moveTo>
                    <a:pt x="0" y="0"/>
                  </a:moveTo>
                  <a:lnTo>
                    <a:pt x="11704320" y="0"/>
                  </a:lnTo>
                  <a:lnTo>
                    <a:pt x="11704320" y="1122304"/>
                  </a:lnTo>
                  <a:lnTo>
                    <a:pt x="0" y="11223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141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Feedback from Guide/Reviewers and actions taken after Review–1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7680" y="2318386"/>
            <a:ext cx="9265920" cy="2954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Feedback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16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</a:t>
            </a: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search gaps not clearly identified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16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No clear execution roadmap shown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16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Need clarity on ML techniques &amp; architecture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Actions Taken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16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Research gaps refined (dataset limitations, lack of real-time systems, missing multivariate forecasting).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16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Detailed project workflow prepared (from dataset → ML → IoT → dashboard).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16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Implemented clustering model + started LSTM model for forecasting.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1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8027904" y="-38784"/>
            <a:ext cx="1727232" cy="709248"/>
            <a:chOff x="0" y="0"/>
            <a:chExt cx="2302976" cy="9456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03018" cy="945642"/>
            </a:xfrm>
            <a:custGeom>
              <a:avLst/>
              <a:gdLst/>
              <a:ahLst/>
              <a:cxnLst/>
              <a:rect l="l" t="t" r="r" b="b"/>
              <a:pathLst>
                <a:path w="2303018" h="945642">
                  <a:moveTo>
                    <a:pt x="0" y="0"/>
                  </a:moveTo>
                  <a:lnTo>
                    <a:pt x="2303018" y="0"/>
                  </a:lnTo>
                  <a:lnTo>
                    <a:pt x="2303018" y="945642"/>
                  </a:lnTo>
                  <a:lnTo>
                    <a:pt x="0" y="945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1" b="-2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Requirement Analysis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20" y="1733550"/>
            <a:ext cx="8595360" cy="428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175" lvl="1" indent="-192405" algn="l">
              <a:lnSpc>
                <a:spcPts val="3585"/>
              </a:lnSpc>
              <a:buFont typeface="Arial" panose="020B0604020202090204"/>
              <a:buChar char="•"/>
            </a:pPr>
            <a:r>
              <a: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Hardware Requirements</a:t>
            </a:r>
            <a:endParaRPr lang="en-US" sz="298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ESP32 microcontroller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PZEM-004T energy sensor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CT coil / voltage sensor module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Wi-Fi router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Laptop/PC for ML model deployment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l">
              <a:lnSpc>
                <a:spcPts val="2560"/>
              </a:lnSpc>
            </a:pPr>
          </a:p>
          <a:p>
            <a:pPr marL="384175" lvl="1" indent="-192405" algn="l">
              <a:lnSpc>
                <a:spcPts val="3585"/>
              </a:lnSpc>
              <a:buFont typeface="Arial" panose="020B0604020202090204"/>
              <a:buChar char="•"/>
            </a:pPr>
            <a:r>
              <a: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Software Requirements</a:t>
            </a:r>
            <a:endParaRPr lang="en-US" sz="298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Python (Pandas, NumPy, Scikit-Learn, TensorFlow/Keras)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MQTT or REST API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Google Colab 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Database: Firebase 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Dashboard: Streamlit / React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2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999168"/>
            <a:ext cx="8778240" cy="513024"/>
            <a:chOff x="0" y="0"/>
            <a:chExt cx="11704320" cy="684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684032"/>
            </a:xfrm>
            <a:custGeom>
              <a:avLst/>
              <a:gdLst/>
              <a:ahLst/>
              <a:cxnLst/>
              <a:rect l="l" t="t" r="r" b="b"/>
              <a:pathLst>
                <a:path w="11704320" h="684032">
                  <a:moveTo>
                    <a:pt x="0" y="0"/>
                  </a:moveTo>
                  <a:lnTo>
                    <a:pt x="11704320" y="0"/>
                  </a:lnTo>
                  <a:lnTo>
                    <a:pt x="11704320" y="684032"/>
                  </a:lnTo>
                  <a:lnTo>
                    <a:pt x="0" y="684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7030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Identification of tools/technology/algorithms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553616" y="1725251"/>
            <a:ext cx="646368" cy="34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Tools</a:t>
            </a:r>
            <a:endParaRPr lang="en-US" sz="213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83814" y="2693168"/>
            <a:ext cx="3091458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Python, Jupyter Notebook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Google Colab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VS Code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ESP32 Arduino IDE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999168"/>
            <a:ext cx="8778240" cy="513024"/>
            <a:chOff x="0" y="0"/>
            <a:chExt cx="11704320" cy="684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684032"/>
            </a:xfrm>
            <a:custGeom>
              <a:avLst/>
              <a:gdLst/>
              <a:ahLst/>
              <a:cxnLst/>
              <a:rect l="l" t="t" r="r" b="b"/>
              <a:pathLst>
                <a:path w="11704320" h="684032">
                  <a:moveTo>
                    <a:pt x="0" y="0"/>
                  </a:moveTo>
                  <a:lnTo>
                    <a:pt x="11704320" y="0"/>
                  </a:lnTo>
                  <a:lnTo>
                    <a:pt x="11704320" y="684032"/>
                  </a:lnTo>
                  <a:lnTo>
                    <a:pt x="0" y="684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7030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Identification of tools/technology/algorithms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124288" y="1737244"/>
            <a:ext cx="150502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Technologies</a:t>
            </a:r>
            <a:endParaRPr lang="en-US" sz="213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83640" y="2693035"/>
            <a:ext cx="5977890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</a:t>
            </a: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oT Sensor Integration (ESP32 + PZEM-004T)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MQTT / HTTP communication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Machine Learning (Clustering, LSTM)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999168"/>
            <a:ext cx="8778240" cy="513024"/>
            <a:chOff x="0" y="0"/>
            <a:chExt cx="11704320" cy="684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684032"/>
            </a:xfrm>
            <a:custGeom>
              <a:avLst/>
              <a:gdLst/>
              <a:ahLst/>
              <a:cxnLst/>
              <a:rect l="l" t="t" r="r" b="b"/>
              <a:pathLst>
                <a:path w="11704320" h="684032">
                  <a:moveTo>
                    <a:pt x="0" y="0"/>
                  </a:moveTo>
                  <a:lnTo>
                    <a:pt x="11704320" y="0"/>
                  </a:lnTo>
                  <a:lnTo>
                    <a:pt x="11704320" y="684032"/>
                  </a:lnTo>
                  <a:lnTo>
                    <a:pt x="0" y="684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7030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Identification of tools/technology/algorithms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3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22115" y="1725295"/>
            <a:ext cx="1419225" cy="328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Algorithms</a:t>
            </a:r>
            <a:endParaRPr lang="en-US" sz="213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183640" y="2693035"/>
            <a:ext cx="6950075" cy="6153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K-Mea</a:t>
            </a: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ns Clustering – detect behaviour patterns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LSTM Deep Learning Model – demand forecasting</a:t>
            </a:r>
            <a:endParaRPr lang="en-US" sz="2000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0">
            <a:off x="2721621" y="2662254"/>
            <a:ext cx="283868" cy="630502"/>
            <a:chOff x="0" y="0"/>
            <a:chExt cx="812800" cy="1805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05320"/>
            </a:xfrm>
            <a:custGeom>
              <a:avLst/>
              <a:gdLst/>
              <a:ahLst/>
              <a:cxnLst/>
              <a:rect l="l" t="t" r="r" b="b"/>
              <a:pathLst>
                <a:path w="812800" h="1805320">
                  <a:moveTo>
                    <a:pt x="406400" y="1805320"/>
                  </a:moveTo>
                  <a:lnTo>
                    <a:pt x="0" y="1398920"/>
                  </a:lnTo>
                  <a:lnTo>
                    <a:pt x="203200" y="139892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398920"/>
                  </a:lnTo>
                  <a:lnTo>
                    <a:pt x="812800" y="1398920"/>
                  </a:lnTo>
                  <a:lnTo>
                    <a:pt x="406400" y="1805320"/>
                  </a:lnTo>
                  <a:close/>
                </a:path>
              </a:pathLst>
            </a:custGeom>
            <a:solidFill>
              <a:srgbClr val="898989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203200" y="-28575"/>
              <a:ext cx="406400" cy="173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2721621" y="3753973"/>
            <a:ext cx="283868" cy="546556"/>
            <a:chOff x="0" y="0"/>
            <a:chExt cx="812800" cy="15649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564958"/>
            </a:xfrm>
            <a:custGeom>
              <a:avLst/>
              <a:gdLst/>
              <a:ahLst/>
              <a:cxnLst/>
              <a:rect l="l" t="t" r="r" b="b"/>
              <a:pathLst>
                <a:path w="812800" h="1564958">
                  <a:moveTo>
                    <a:pt x="406400" y="1564958"/>
                  </a:moveTo>
                  <a:lnTo>
                    <a:pt x="0" y="1158558"/>
                  </a:lnTo>
                  <a:lnTo>
                    <a:pt x="203200" y="1158558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158558"/>
                  </a:lnTo>
                  <a:lnTo>
                    <a:pt x="812800" y="1158558"/>
                  </a:lnTo>
                  <a:lnTo>
                    <a:pt x="406400" y="1564958"/>
                  </a:lnTo>
                  <a:close/>
                </a:path>
              </a:pathLst>
            </a:custGeom>
            <a:solidFill>
              <a:srgbClr val="89898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203200" y="-28575"/>
              <a:ext cx="406400" cy="1491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2721621" y="5533386"/>
            <a:ext cx="283868" cy="582533"/>
            <a:chOff x="0" y="0"/>
            <a:chExt cx="812800" cy="16679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1667970"/>
            </a:xfrm>
            <a:custGeom>
              <a:avLst/>
              <a:gdLst/>
              <a:ahLst/>
              <a:cxnLst/>
              <a:rect l="l" t="t" r="r" b="b"/>
              <a:pathLst>
                <a:path w="812800" h="1667970">
                  <a:moveTo>
                    <a:pt x="406400" y="1667970"/>
                  </a:moveTo>
                  <a:lnTo>
                    <a:pt x="0" y="1261570"/>
                  </a:lnTo>
                  <a:lnTo>
                    <a:pt x="203200" y="126157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261570"/>
                  </a:lnTo>
                  <a:lnTo>
                    <a:pt x="812800" y="1261570"/>
                  </a:lnTo>
                  <a:lnTo>
                    <a:pt x="406400" y="1667970"/>
                  </a:lnTo>
                  <a:close/>
                </a:path>
              </a:pathLst>
            </a:custGeom>
            <a:solidFill>
              <a:srgbClr val="89898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203200" y="-28575"/>
              <a:ext cx="406400" cy="1594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487721" y="2185269"/>
            <a:ext cx="2751667" cy="4398411"/>
          </a:xfrm>
          <a:custGeom>
            <a:avLst/>
            <a:gdLst/>
            <a:ahLst/>
            <a:cxnLst/>
            <a:rect l="l" t="t" r="r" b="b"/>
            <a:pathLst>
              <a:path w="2751667" h="4398411">
                <a:moveTo>
                  <a:pt x="0" y="0"/>
                </a:moveTo>
                <a:lnTo>
                  <a:pt x="2751667" y="0"/>
                </a:lnTo>
                <a:lnTo>
                  <a:pt x="2751667" y="4398411"/>
                </a:lnTo>
                <a:lnTo>
                  <a:pt x="0" y="4398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060"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7098591" y="2662254"/>
            <a:ext cx="283868" cy="710948"/>
            <a:chOff x="0" y="0"/>
            <a:chExt cx="812800" cy="20356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2035664"/>
            </a:xfrm>
            <a:custGeom>
              <a:avLst/>
              <a:gdLst/>
              <a:ahLst/>
              <a:cxnLst/>
              <a:rect l="l" t="t" r="r" b="b"/>
              <a:pathLst>
                <a:path w="812800" h="2035664">
                  <a:moveTo>
                    <a:pt x="406400" y="2035664"/>
                  </a:moveTo>
                  <a:lnTo>
                    <a:pt x="0" y="1629264"/>
                  </a:lnTo>
                  <a:lnTo>
                    <a:pt x="203200" y="1629264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629264"/>
                  </a:lnTo>
                  <a:lnTo>
                    <a:pt x="812800" y="1629264"/>
                  </a:lnTo>
                  <a:lnTo>
                    <a:pt x="406400" y="2035664"/>
                  </a:lnTo>
                  <a:close/>
                </a:path>
              </a:pathLst>
            </a:custGeom>
            <a:solidFill>
              <a:srgbClr val="89898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203200" y="-28575"/>
              <a:ext cx="406400" cy="1962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7098591" y="4001852"/>
            <a:ext cx="283868" cy="618509"/>
            <a:chOff x="0" y="0"/>
            <a:chExt cx="812800" cy="17709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1770982"/>
            </a:xfrm>
            <a:custGeom>
              <a:avLst/>
              <a:gdLst/>
              <a:ahLst/>
              <a:cxnLst/>
              <a:rect l="l" t="t" r="r" b="b"/>
              <a:pathLst>
                <a:path w="812800" h="1770982">
                  <a:moveTo>
                    <a:pt x="406400" y="1770982"/>
                  </a:moveTo>
                  <a:lnTo>
                    <a:pt x="0" y="1364583"/>
                  </a:lnTo>
                  <a:lnTo>
                    <a:pt x="203200" y="1364583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364583"/>
                  </a:lnTo>
                  <a:lnTo>
                    <a:pt x="812800" y="1364583"/>
                  </a:lnTo>
                  <a:lnTo>
                    <a:pt x="406400" y="1770982"/>
                  </a:lnTo>
                  <a:close/>
                </a:path>
              </a:pathLst>
            </a:custGeom>
            <a:solidFill>
              <a:srgbClr val="89898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203200" y="-28575"/>
              <a:ext cx="406400" cy="169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7098591" y="5249012"/>
            <a:ext cx="283868" cy="654486"/>
            <a:chOff x="0" y="0"/>
            <a:chExt cx="812800" cy="187399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1873995"/>
            </a:xfrm>
            <a:custGeom>
              <a:avLst/>
              <a:gdLst/>
              <a:ahLst/>
              <a:cxnLst/>
              <a:rect l="l" t="t" r="r" b="b"/>
              <a:pathLst>
                <a:path w="812800" h="1873995">
                  <a:moveTo>
                    <a:pt x="406400" y="1873995"/>
                  </a:moveTo>
                  <a:lnTo>
                    <a:pt x="0" y="1467595"/>
                  </a:lnTo>
                  <a:lnTo>
                    <a:pt x="203200" y="1467595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467595"/>
                  </a:lnTo>
                  <a:lnTo>
                    <a:pt x="812800" y="1467595"/>
                  </a:lnTo>
                  <a:lnTo>
                    <a:pt x="406400" y="1873995"/>
                  </a:lnTo>
                  <a:close/>
                </a:path>
              </a:pathLst>
            </a:custGeom>
            <a:solidFill>
              <a:srgbClr val="898989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03200" y="-28575"/>
              <a:ext cx="406400" cy="180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35"/>
                </a:lnSpc>
              </a:pPr>
            </a:p>
          </p:txBody>
        </p:sp>
      </p:grpSp>
      <p:sp>
        <p:nvSpPr>
          <p:cNvPr id="29" name="Freeform 29"/>
          <p:cNvSpPr/>
          <p:nvPr/>
        </p:nvSpPr>
        <p:spPr>
          <a:xfrm>
            <a:off x="5779034" y="2111902"/>
            <a:ext cx="2922982" cy="4398411"/>
          </a:xfrm>
          <a:custGeom>
            <a:avLst/>
            <a:gdLst/>
            <a:ahLst/>
            <a:cxnLst/>
            <a:rect l="l" t="t" r="r" b="b"/>
            <a:pathLst>
              <a:path w="2922982" h="4398411">
                <a:moveTo>
                  <a:pt x="0" y="0"/>
                </a:moveTo>
                <a:lnTo>
                  <a:pt x="2922982" y="0"/>
                </a:lnTo>
                <a:lnTo>
                  <a:pt x="2922982" y="4398410"/>
                </a:lnTo>
                <a:lnTo>
                  <a:pt x="0" y="4398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33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16528" y="1352859"/>
            <a:ext cx="2100960" cy="34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Project Workflow</a:t>
            </a:r>
            <a:endParaRPr lang="en-US" sz="213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61888" y="1739374"/>
            <a:ext cx="340333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  <a:spcBef>
                <a:spcPct val="0"/>
              </a:spcBef>
            </a:pPr>
            <a:r>
              <a:rPr lang="en-US" sz="22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Phase 1 : Model Building</a:t>
            </a:r>
            <a:endParaRPr lang="en-US" sz="228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538859" y="1675206"/>
            <a:ext cx="3403333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5"/>
              </a:lnSpc>
              <a:spcBef>
                <a:spcPct val="0"/>
              </a:spcBef>
            </a:pPr>
            <a:r>
              <a:rPr lang="en-US" sz="22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Phase 2 : Extedning to IOT</a:t>
            </a:r>
            <a:endParaRPr lang="en-US" sz="228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58116" y="4314555"/>
            <a:ext cx="7043900" cy="2465733"/>
          </a:xfrm>
          <a:custGeom>
            <a:avLst/>
            <a:gdLst/>
            <a:ahLst/>
            <a:cxnLst/>
            <a:rect l="l" t="t" r="r" b="b"/>
            <a:pathLst>
              <a:path w="7043900" h="2465733">
                <a:moveTo>
                  <a:pt x="0" y="0"/>
                </a:moveTo>
                <a:lnTo>
                  <a:pt x="7043900" y="0"/>
                </a:lnTo>
                <a:lnTo>
                  <a:pt x="7043900" y="2465733"/>
                </a:lnTo>
                <a:lnTo>
                  <a:pt x="0" y="2465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456" b="-9321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7664" y="1352859"/>
            <a:ext cx="1694304" cy="34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13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System Design</a:t>
            </a:r>
            <a:endParaRPr lang="en-US" sz="2135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27664" y="1747105"/>
            <a:ext cx="6601346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90204"/>
              <a:buChar char="•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Components: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IoT Layer: ESP32, PZEM sensor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Data Layer: local storage / Firebase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ML Layer: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Clustering model for behaviour segmentation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LSTM model for forecasting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Application Layer: Web/Mobile dashboard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2" indent="-287655" algn="l">
              <a:lnSpc>
                <a:spcPts val="2400"/>
              </a:lnSpc>
              <a:buFont typeface="Arial" panose="020B0604020202090204"/>
              <a:buChar char="⚬"/>
            </a:pPr>
            <a:r>
              <a:rPr lang="en-US" sz="200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Recommendation Engine: Suggests optimal usage times</a:t>
            </a:r>
            <a:endParaRPr lang="en-US" sz="200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259200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037520" y="1925005"/>
            <a:ext cx="3678560" cy="4520504"/>
          </a:xfrm>
          <a:custGeom>
            <a:avLst/>
            <a:gdLst/>
            <a:ahLst/>
            <a:cxnLst/>
            <a:rect l="l" t="t" r="r" b="b"/>
            <a:pathLst>
              <a:path w="3678560" h="4520504">
                <a:moveTo>
                  <a:pt x="0" y="0"/>
                </a:moveTo>
                <a:lnTo>
                  <a:pt x="3678560" y="0"/>
                </a:lnTo>
                <a:lnTo>
                  <a:pt x="3678560" y="4520504"/>
                </a:lnTo>
                <a:lnTo>
                  <a:pt x="0" y="4520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2256" y="1343334"/>
            <a:ext cx="153746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Class Diagram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259200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005234" y="2218506"/>
            <a:ext cx="3743132" cy="3885533"/>
          </a:xfrm>
          <a:custGeom>
            <a:avLst/>
            <a:gdLst/>
            <a:ahLst/>
            <a:cxnLst/>
            <a:rect l="l" t="t" r="r" b="b"/>
            <a:pathLst>
              <a:path w="3743132" h="3885533">
                <a:moveTo>
                  <a:pt x="0" y="0"/>
                </a:moveTo>
                <a:lnTo>
                  <a:pt x="3743132" y="0"/>
                </a:lnTo>
                <a:lnTo>
                  <a:pt x="3743132" y="3885533"/>
                </a:lnTo>
                <a:lnTo>
                  <a:pt x="0" y="388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2256" y="1343334"/>
            <a:ext cx="186228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UseCase Diagram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259200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74315" y="1773467"/>
            <a:ext cx="5004970" cy="4391861"/>
          </a:xfrm>
          <a:custGeom>
            <a:avLst/>
            <a:gdLst/>
            <a:ahLst/>
            <a:cxnLst/>
            <a:rect l="l" t="t" r="r" b="b"/>
            <a:pathLst>
              <a:path w="5004970" h="4391861">
                <a:moveTo>
                  <a:pt x="0" y="0"/>
                </a:moveTo>
                <a:lnTo>
                  <a:pt x="5004970" y="0"/>
                </a:lnTo>
                <a:lnTo>
                  <a:pt x="5004970" y="4391861"/>
                </a:lnTo>
                <a:lnTo>
                  <a:pt x="0" y="43918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2256" y="1343334"/>
            <a:ext cx="1957313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Sequence Diagram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259200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964520" y="1648134"/>
            <a:ext cx="1824559" cy="4431073"/>
          </a:xfrm>
          <a:custGeom>
            <a:avLst/>
            <a:gdLst/>
            <a:ahLst/>
            <a:cxnLst/>
            <a:rect l="l" t="t" r="r" b="b"/>
            <a:pathLst>
              <a:path w="1824559" h="4431073">
                <a:moveTo>
                  <a:pt x="0" y="0"/>
                </a:moveTo>
                <a:lnTo>
                  <a:pt x="1824560" y="0"/>
                </a:lnTo>
                <a:lnTo>
                  <a:pt x="1824560" y="4431073"/>
                </a:lnTo>
                <a:lnTo>
                  <a:pt x="0" y="4431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2256" y="1343334"/>
            <a:ext cx="180796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Activity Diagram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259200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3122080" y="1859583"/>
            <a:ext cx="3509439" cy="4291582"/>
          </a:xfrm>
          <a:custGeom>
            <a:avLst/>
            <a:gdLst/>
            <a:ahLst/>
            <a:cxnLst/>
            <a:rect l="l" t="t" r="r" b="b"/>
            <a:pathLst>
              <a:path w="3509439" h="4291582">
                <a:moveTo>
                  <a:pt x="0" y="0"/>
                </a:moveTo>
                <a:lnTo>
                  <a:pt x="3509440" y="0"/>
                </a:lnTo>
                <a:lnTo>
                  <a:pt x="3509440" y="4291582"/>
                </a:lnTo>
                <a:lnTo>
                  <a:pt x="0" y="4291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2010" y="1343025"/>
            <a:ext cx="2437765" cy="3403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Component Diagram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704320" cy="164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85"/>
                </a:lnSpc>
              </a:pPr>
              <a:r>
                <a:rPr lang="en-US" sz="298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Design Strategy</a:t>
              </a:r>
              <a:endParaRPr lang="en-US" sz="298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4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0">
            <a:off x="7650432" y="259200"/>
            <a:ext cx="2103168" cy="863616"/>
            <a:chOff x="0" y="0"/>
            <a:chExt cx="2804224" cy="115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2330354" y="1877551"/>
            <a:ext cx="5092892" cy="3919865"/>
          </a:xfrm>
          <a:custGeom>
            <a:avLst/>
            <a:gdLst/>
            <a:ahLst/>
            <a:cxnLst/>
            <a:rect l="l" t="t" r="r" b="b"/>
            <a:pathLst>
              <a:path w="5092892" h="3919865">
                <a:moveTo>
                  <a:pt x="0" y="0"/>
                </a:moveTo>
                <a:lnTo>
                  <a:pt x="5092892" y="0"/>
                </a:lnTo>
                <a:lnTo>
                  <a:pt x="5092892" y="3919865"/>
                </a:lnTo>
                <a:lnTo>
                  <a:pt x="0" y="3919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2256" y="1343334"/>
            <a:ext cx="2241649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Deployment Diagram</a:t>
            </a:r>
            <a:endParaRPr lang="en-US" sz="192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87680" y="292608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1704320" cy="16541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0"/>
                </a:lnSpc>
              </a:pPr>
              <a:r>
                <a:rPr lang="en-US" sz="4695" b="1">
                  <a:solidFill>
                    <a:srgbClr val="000000"/>
                  </a:solidFill>
                  <a:latin typeface="Times New Roman Bold" panose="02020503050405090304"/>
                  <a:ea typeface="Times New Roman Bold" panose="02020503050405090304"/>
                  <a:cs typeface="Times New Roman Bold" panose="02020503050405090304"/>
                  <a:sym typeface="Times New Roman Bold" panose="02020503050405090304"/>
                </a:rPr>
                <a:t>Conclusion</a:t>
              </a:r>
              <a:endParaRPr lang="en-US" sz="4695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5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77680" y="1425642"/>
            <a:ext cx="7204704" cy="191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320" lvl="1" indent="-137160" algn="l">
              <a:lnSpc>
                <a:spcPts val="384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Co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mpleted literature survey &amp; identified strong research gaps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l">
              <a:lnSpc>
                <a:spcPts val="384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Clustering model implemented successfully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l">
              <a:lnSpc>
                <a:spcPts val="384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LSTM future consumption model partially completed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274320" lvl="1" indent="-137160" algn="l">
              <a:lnSpc>
                <a:spcPts val="3840"/>
              </a:lnSpc>
              <a:buFont typeface="Arial" panose="020B0604020202090204"/>
              <a:buChar char="•"/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Clear plan for IoT integration and dashboard development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1232" y="968475"/>
            <a:ext cx="9345120" cy="426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0"/>
              </a:lnSpc>
            </a:p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[1]Hebrail, G. &amp; Berard, A. (2006). Individual Household Electric Power Consumption [Dataset]. UCI Machine Learning 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Re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positor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y. (</a:t>
            </a:r>
            <a:r>
              <a:rPr lang="en-US" sz="2135" u="sng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https://</a:t>
            </a:r>
            <a:r>
              <a:rPr lang="en-US" sz="2135" u="sng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doi.</a:t>
            </a:r>
            <a:r>
              <a:rPr lang="en-US" sz="2135" u="sng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org/10.24432/C58K54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).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[2] Time-Series Forecasting Models for Smart Meters Data: An Empirical Comparison and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nal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y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si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 (</a:t>
            </a:r>
            <a:r>
              <a:rPr lang="en-US" sz="2135" u="sng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https://iieta.org/journals/jesa/paper/10.18280/jesa.570517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)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l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[3] PZEM-004T &amp; SCT-013 Sensor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D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ata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sh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ee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ts.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just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[4] Energy Optimization Research Papers (IoT, ML, Smart Grids)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just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[5] 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TensorFlow and Scikit-Learn D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oc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um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e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n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ta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t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i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on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just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[6] Clustering Model Colab Link(</a:t>
            </a:r>
            <a:r>
              <a:rPr lang="en-US" sz="2135" u="sng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https://colab.research.google.com/drive/1-U-GMgeKRNzcrYV4kobnuwHlzqKPd7IP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)</a:t>
            </a:r>
            <a:endParaRPr lang="en-US" sz="2135">
              <a:solidFill>
                <a:srgbClr val="0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just">
              <a:lnSpc>
                <a:spcPts val="2560"/>
              </a:lnSpc>
            </a:pP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[6] LSTM Model Colab Link(</a:t>
            </a:r>
            <a:r>
              <a:rPr lang="en-US" altLang="en-US" sz="2135" u="sng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https://colab.research.google.com/drive/1-U-GMgeKRNzcrYV4kobnuwHlzqKPd7IP</a:t>
            </a:r>
            <a:r>
              <a:rPr lang="en-US" sz="2135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55568" y="315750"/>
            <a:ext cx="1528800" cy="41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60" b="1">
                <a:solidFill>
                  <a:srgbClr val="000000"/>
                </a:solidFill>
                <a:latin typeface="Times New Roman Bold" panose="02020503050405090304"/>
                <a:ea typeface="Times New Roman Bold" panose="02020503050405090304"/>
                <a:cs typeface="Times New Roman Bold" panose="02020503050405090304"/>
                <a:sym typeface="Times New Roman Bold" panose="02020503050405090304"/>
              </a:rPr>
              <a:t>References</a:t>
            </a:r>
            <a:endParaRPr lang="en-US" sz="2560" b="1">
              <a:solidFill>
                <a:srgbClr val="000000"/>
              </a:solidFill>
              <a:latin typeface="Times New Roman Bold" panose="02020503050405090304"/>
              <a:ea typeface="Times New Roman Bold" panose="02020503050405090304"/>
              <a:cs typeface="Times New Roman Bold" panose="02020503050405090304"/>
              <a:sym typeface="Times New Roman Bold" panose="02020503050405090304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 rot="0">
            <a:off x="7650432" y="135552"/>
            <a:ext cx="2103168" cy="863616"/>
            <a:chOff x="0" y="0"/>
            <a:chExt cx="2804224" cy="11514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04287" cy="1151509"/>
            </a:xfrm>
            <a:custGeom>
              <a:avLst/>
              <a:gdLst/>
              <a:ahLst/>
              <a:cxnLst/>
              <a:rect l="l" t="t" r="r" b="b"/>
              <a:pathLst>
                <a:path w="2804287" h="1151509">
                  <a:moveTo>
                    <a:pt x="0" y="0"/>
                  </a:moveTo>
                  <a:lnTo>
                    <a:pt x="2804287" y="0"/>
                  </a:lnTo>
                  <a:lnTo>
                    <a:pt x="2804287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r="2" b="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0">
            <a:off x="6989952" y="6780288"/>
            <a:ext cx="2275968" cy="389376"/>
            <a:chOff x="0" y="0"/>
            <a:chExt cx="3034624" cy="519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4624" cy="519168"/>
            </a:xfrm>
            <a:custGeom>
              <a:avLst/>
              <a:gdLst/>
              <a:ahLst/>
              <a:cxnLst/>
              <a:rect l="l" t="t" r="r" b="b"/>
              <a:pathLst>
                <a:path w="3034624" h="519168">
                  <a:moveTo>
                    <a:pt x="0" y="0"/>
                  </a:moveTo>
                  <a:lnTo>
                    <a:pt x="3034624" y="0"/>
                  </a:lnTo>
                  <a:lnTo>
                    <a:pt x="3034624" y="519168"/>
                  </a:lnTo>
                  <a:lnTo>
                    <a:pt x="0" y="519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034624" cy="547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5"/>
                </a:lnSpc>
              </a:pPr>
              <a:r>
                <a:rPr lang="en-US" sz="1280">
                  <a:solidFill>
                    <a:srgbClr val="898989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6</a:t>
              </a:r>
              <a:endParaRPr lang="en-US" sz="1280">
                <a:solidFill>
                  <a:srgbClr val="898989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4586</Words>
  <Application>WPS Presentation</Application>
  <PresentationFormat>On-screen Show (4:3)</PresentationFormat>
  <Paragraphs>212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SimSun</vt:lpstr>
      <vt:lpstr>Wingdings</vt:lpstr>
      <vt:lpstr>Times New Roman</vt:lpstr>
      <vt:lpstr>Times New Roman Bold</vt:lpstr>
      <vt:lpstr>Calibri (MS)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Calibri (MS)</vt:lpstr>
      <vt:lpstr>Times New Roman</vt:lpstr>
      <vt:lpstr>Times New Roman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CSE_Capstone-Project – I_Review-2-PPT_2025-26 (1).ppt</dc:title>
  <dc:creator/>
  <cp:lastModifiedBy>siravurisaivarma</cp:lastModifiedBy>
  <cp:revision>6</cp:revision>
  <dcterms:created xsi:type="dcterms:W3CDTF">2025-11-24T01:06:35Z</dcterms:created>
  <dcterms:modified xsi:type="dcterms:W3CDTF">2025-11-24T01:06:35Z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90CABFEC16D443C1D39F2369ED5FBB6D_42</vt:lpwstr>
  </property>
  <property fmtid="{D5CDD505-2E9C-101B-9397-08002B2CF9AE}" pid="3" name="KSOProductBuildVer">
    <vt:lpwstr>1033-12.1.22527.22527</vt:lpwstr>
  </property>
</Properties>
</file>